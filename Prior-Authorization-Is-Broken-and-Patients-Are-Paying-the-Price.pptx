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6"/>
  </p:notesMasterIdLst>
  <p:sldIdLst>
    <p:sldId id="262" r:id="rId2"/>
    <p:sldId id="256" r:id="rId3"/>
    <p:sldId id="258" r:id="rId4"/>
    <p:sldId id="260" r:id="rId5"/>
  </p:sldIdLst>
  <p:sldSz cx="9144000" cy="5143500" type="screen16x9"/>
  <p:notesSz cx="5143500" cy="9144000"/>
  <p:embeddedFontLst>
    <p:embeddedFont>
      <p:font typeface="Inter" panose="020B0604020202020204" charset="0"/>
      <p:regular r:id="rId7"/>
    </p:embeddedFont>
    <p:embeddedFont>
      <p:font typeface="Inter Bold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745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0182" y="275333"/>
            <a:ext cx="5798344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Prior Authorization Is Breaking Healthcare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980182" y="721334"/>
            <a:ext cx="7183562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Prior authorization — the process requiring physician approval before insurers cover a service — is manual, slow, and error-prone. Doctors chase constantly changing rules with outdated guidance, while patients and staff pay the price.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980182" y="1257077"/>
            <a:ext cx="3543970" cy="229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16+hrs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101453" y="1595438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Weekly PA Burden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980182" y="1803946"/>
            <a:ext cx="3543970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Physicians spend over 16 hours per week on prior authorization appeals alone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619699" y="1257077"/>
            <a:ext cx="3544044" cy="343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82%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596086" y="1709961"/>
            <a:ext cx="1591270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Treatment Abandonment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619699" y="1918469"/>
            <a:ext cx="3544044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of physicians report patients abandon treatment due to PA delays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80182" y="2297683"/>
            <a:ext cx="3543970" cy="343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94%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101453" y="2750567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Physician Burnout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80182" y="2959075"/>
            <a:ext cx="3543970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of doctors say prior authorization directly contributes to burnout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619699" y="2297683"/>
            <a:ext cx="3544044" cy="343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29%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722144" y="2750567"/>
            <a:ext cx="1339155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Serious Patient Harm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619699" y="2959075"/>
            <a:ext cx="3544044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of doctors report PA delays have led to serious adverse events, including death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80182" y="3333899"/>
            <a:ext cx="2343522" cy="859557"/>
          </a:xfrm>
          <a:prstGeom prst="roundRect">
            <a:avLst>
              <a:gd name="adj" fmla="val 5087"/>
            </a:avLst>
          </a:prstGeom>
          <a:solidFill>
            <a:srgbClr val="CCE5FF"/>
          </a:solidFill>
          <a:ln w="4763">
            <a:solidFill>
              <a:srgbClr val="B2CB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89050" y="3442767"/>
            <a:ext cx="2125787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5733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99%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 of Hospital Alarms Are False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89050" y="3651275"/>
            <a:ext cx="2125787" cy="433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Clinically insignificant or false alarms overwhelm clinical staff and erode response urgency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400127" y="3333899"/>
            <a:ext cx="2343596" cy="859557"/>
          </a:xfrm>
          <a:prstGeom prst="roundRect">
            <a:avLst>
              <a:gd name="adj" fmla="val 5087"/>
            </a:avLst>
          </a:prstGeom>
          <a:solidFill>
            <a:srgbClr val="CCE5FF"/>
          </a:solidFill>
          <a:ln w="4763">
            <a:solidFill>
              <a:srgbClr val="B2CB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508995" y="3442767"/>
            <a:ext cx="2045196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5733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&gt;14%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 Increase in Medical Errors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508995" y="3651275"/>
            <a:ext cx="2125861" cy="433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Administrative overload and alarm fatigue directly correlate with rising clinical error rates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820147" y="3333899"/>
            <a:ext cx="2343596" cy="859557"/>
          </a:xfrm>
          <a:prstGeom prst="roundRect">
            <a:avLst>
              <a:gd name="adj" fmla="val 5087"/>
            </a:avLst>
          </a:prstGeom>
          <a:solidFill>
            <a:srgbClr val="CCE5FF"/>
          </a:solidFill>
          <a:ln w="4763">
            <a:solidFill>
              <a:srgbClr val="B2CB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929015" y="3442767"/>
            <a:ext cx="1870918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5733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83%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 of Nurses Overwhelmed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929015" y="3651275"/>
            <a:ext cx="2125861" cy="433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More than 8 in 10 nurses report feeling overwhelmed by the volume of device alarms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80182" y="4279404"/>
            <a:ext cx="7183562" cy="512043"/>
          </a:xfrm>
          <a:prstGeom prst="roundRect">
            <a:avLst>
              <a:gd name="adj" fmla="val 8540"/>
            </a:avLst>
          </a:prstGeom>
          <a:solidFill>
            <a:srgbClr val="FFB3B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287" y="4427860"/>
            <a:ext cx="130076" cy="104105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318468" y="4381798"/>
            <a:ext cx="6741170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The system is not merely inefficient — it is actively harming patients and clinicians. These are not edge cases. This is standard operating procedure across American healthcare.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1862" y="134503"/>
            <a:ext cx="5530825" cy="266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PolicyPulse: Autonomous Prior-Auth Intelligence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3820" y="447123"/>
            <a:ext cx="8976360" cy="152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An autonomous agent that monitors payer policy changes, logs every decision, and surfaces alerts to clinicians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only when a change directly impacts the care they are ordering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— eliminating noise and reducing prior-auth delays.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209452" y="1032123"/>
            <a:ext cx="2226246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 the Autonomous Loop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209452" y="1231329"/>
            <a:ext cx="170557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209452" y="1366689"/>
            <a:ext cx="3605064" cy="9525"/>
          </a:xfrm>
          <a:prstGeom prst="rect">
            <a:avLst/>
          </a:prstGeom>
          <a:solidFill>
            <a:srgbClr val="0056B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09452" y="1428378"/>
            <a:ext cx="1244129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Policy Change Detected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09452" y="1598920"/>
            <a:ext cx="3605064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Nimble scans UHC public policy pages and snapshots, surfacing diffs in </a:t>
            </a:r>
          </a:p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real time.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09452" y="1857821"/>
            <a:ext cx="170557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209452" y="1993181"/>
            <a:ext cx="3605064" cy="9525"/>
          </a:xfrm>
          <a:prstGeom prst="rect">
            <a:avLst/>
          </a:prstGeom>
          <a:solidFill>
            <a:srgbClr val="0056B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209452" y="2054870"/>
            <a:ext cx="1580778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Materiality &amp; Relevance Check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09452" y="2278737"/>
            <a:ext cx="3605064" cy="230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ClickHouse stores diffs and triggers; irrelevant alerts are suppressed and logged — not surfaced.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09452" y="2599432"/>
            <a:ext cx="170557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209452" y="2734791"/>
            <a:ext cx="3605064" cy="9525"/>
          </a:xfrm>
          <a:prstGeom prst="rect">
            <a:avLst/>
          </a:prstGeom>
          <a:solidFill>
            <a:srgbClr val="0056B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09452" y="2796480"/>
            <a:ext cx="1065981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Clinical Trigger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09452" y="2988320"/>
            <a:ext cx="3605064" cy="230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When a change is relevant to an active order, CRD guidance and a DTR checklist are generated via Senso-grounded documentation requirements.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209452" y="3341043"/>
            <a:ext cx="170557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209452" y="3476402"/>
            <a:ext cx="3605064" cy="9525"/>
          </a:xfrm>
          <a:prstGeom prst="rect">
            <a:avLst/>
          </a:prstGeom>
          <a:solidFill>
            <a:srgbClr val="0056B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209452" y="3538091"/>
            <a:ext cx="1334542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Readiness Card Delivered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209452" y="3729930"/>
            <a:ext cx="3605064" cy="230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 premium readiness card is gated behind an x402 micropayment flow, ensuring value-aligned access.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965948" y="973559"/>
            <a:ext cx="3034605" cy="3116461"/>
          </a:xfrm>
          <a:prstGeom prst="roundRect">
            <a:avLst>
              <a:gd name="adj" fmla="val 2023"/>
            </a:avLst>
          </a:prstGeom>
          <a:solidFill>
            <a:srgbClr val="0056B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051227" y="1032123"/>
            <a:ext cx="1853208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Sponsor Technology Stack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051227" y="1231329"/>
            <a:ext cx="1402705" cy="841921"/>
          </a:xfrm>
          <a:prstGeom prst="roundRect">
            <a:avLst>
              <a:gd name="adj" fmla="val 5430"/>
            </a:avLst>
          </a:prstGeom>
          <a:solidFill>
            <a:srgbClr val="0056B3"/>
          </a:solidFill>
          <a:ln w="9525">
            <a:solidFill>
              <a:srgbClr val="B2CB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041702" y="1231329"/>
            <a:ext cx="38100" cy="841921"/>
          </a:xfrm>
          <a:prstGeom prst="roundRect">
            <a:avLst>
              <a:gd name="adj" fmla="val 94012"/>
            </a:avLst>
          </a:prstGeom>
          <a:solidFill>
            <a:srgbClr val="0056B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060752" y="1286804"/>
            <a:ext cx="1065981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Nimble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041702" y="1517972"/>
            <a:ext cx="1385515" cy="345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Scans UHC policy pages and detects content changes via snapshots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512496" y="1231329"/>
            <a:ext cx="1402779" cy="841921"/>
          </a:xfrm>
          <a:prstGeom prst="roundRect">
            <a:avLst>
              <a:gd name="adj" fmla="val 5430"/>
            </a:avLst>
          </a:prstGeom>
          <a:solidFill>
            <a:srgbClr val="0056B3"/>
          </a:solidFill>
          <a:ln w="9525">
            <a:solidFill>
              <a:srgbClr val="B2CB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502971" y="1231329"/>
            <a:ext cx="38100" cy="841921"/>
          </a:xfrm>
          <a:prstGeom prst="roundRect">
            <a:avLst>
              <a:gd name="adj" fmla="val 94012"/>
            </a:avLst>
          </a:prstGeom>
          <a:solidFill>
            <a:srgbClr val="0056B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635874" y="1326133"/>
            <a:ext cx="1065981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ClickHouse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635874" y="1517972"/>
            <a:ext cx="1184597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Stores policy snapshots, diffs, triggers, suppressed alerts and CRD/DTR decisions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051227" y="2131814"/>
            <a:ext cx="1402705" cy="726802"/>
          </a:xfrm>
          <a:prstGeom prst="roundRect">
            <a:avLst>
              <a:gd name="adj" fmla="val 6291"/>
            </a:avLst>
          </a:prstGeom>
          <a:solidFill>
            <a:srgbClr val="0056B3"/>
          </a:solidFill>
          <a:ln w="9525">
            <a:solidFill>
              <a:srgbClr val="B2CB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041702" y="2131814"/>
            <a:ext cx="38100" cy="726802"/>
          </a:xfrm>
          <a:prstGeom prst="roundRect">
            <a:avLst>
              <a:gd name="adj" fmla="val 94012"/>
            </a:avLst>
          </a:prstGeom>
          <a:solidFill>
            <a:srgbClr val="0056B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079802" y="2173523"/>
            <a:ext cx="1065981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Senso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026707" y="2381547"/>
            <a:ext cx="1451743" cy="345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Retrieves grounded documentation requirements for the readiness checklist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512496" y="2131814"/>
            <a:ext cx="1402779" cy="726802"/>
          </a:xfrm>
          <a:prstGeom prst="roundRect">
            <a:avLst>
              <a:gd name="adj" fmla="val 6291"/>
            </a:avLst>
          </a:prstGeom>
          <a:solidFill>
            <a:srgbClr val="0056B3"/>
          </a:solidFill>
          <a:ln w="9525">
            <a:solidFill>
              <a:srgbClr val="B2CB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502971" y="2131814"/>
            <a:ext cx="38100" cy="726802"/>
          </a:xfrm>
          <a:prstGeom prst="roundRect">
            <a:avLst>
              <a:gd name="adj" fmla="val 94012"/>
            </a:avLst>
          </a:prstGeom>
          <a:solidFill>
            <a:srgbClr val="0056B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635874" y="2226618"/>
            <a:ext cx="1065981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x402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635874" y="2418457"/>
            <a:ext cx="1184597" cy="345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Gates the premium readiness card behind a micropayment 402 flow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060752" y="3096630"/>
            <a:ext cx="2864048" cy="759543"/>
          </a:xfrm>
          <a:prstGeom prst="roundRect">
            <a:avLst>
              <a:gd name="adj" fmla="val 6880"/>
            </a:avLst>
          </a:prstGeom>
          <a:solidFill>
            <a:srgbClr val="B6D6F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512" y="3425025"/>
            <a:ext cx="106561" cy="85279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5432748" y="3194594"/>
            <a:ext cx="2501652" cy="345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🏆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Hackathon Demo Scope: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Monitors UHC public policy sources only. Simulates one realistic policy update, then runs the full autonomous loop end-to-end.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1209452" y="4155951"/>
            <a:ext cx="2202582" cy="693837"/>
          </a:xfrm>
          <a:prstGeom prst="roundRect">
            <a:avLst>
              <a:gd name="adj" fmla="val 5162"/>
            </a:avLst>
          </a:prstGeom>
          <a:solidFill>
            <a:srgbClr val="CCE5FF"/>
          </a:solidFill>
          <a:ln w="4763">
            <a:solidFill>
              <a:srgbClr val="B2CB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1299493" y="4245992"/>
            <a:ext cx="1065981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Multi-Payer Scale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1299493" y="4414391"/>
            <a:ext cx="2022500" cy="345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In production, PolicyPulse scales via </a:t>
            </a:r>
            <a:r>
              <a:rPr kumimoji="0" lang="en-US" sz="65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Myndshft</a:t>
            </a: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for multi-plan prior-auth infrastructure and broader payer coverage.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3470597" y="4155951"/>
            <a:ext cx="2202656" cy="693837"/>
          </a:xfrm>
          <a:prstGeom prst="roundRect">
            <a:avLst>
              <a:gd name="adj" fmla="val 5162"/>
            </a:avLst>
          </a:prstGeom>
          <a:solidFill>
            <a:srgbClr val="CCE5FF"/>
          </a:solidFill>
          <a:ln w="4763">
            <a:solidFill>
              <a:srgbClr val="B2CB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3560638" y="4245992"/>
            <a:ext cx="1073274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HIPAA &amp; Compliance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3560638" y="4414391"/>
            <a:ext cx="2022574" cy="345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Accountable HQ</a:t>
            </a: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provides HIPAA readiness, compliance controls, and full audit trail support at scale.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5731818" y="4155951"/>
            <a:ext cx="2202582" cy="693837"/>
          </a:xfrm>
          <a:prstGeom prst="roundRect">
            <a:avLst>
              <a:gd name="adj" fmla="val 5162"/>
            </a:avLst>
          </a:prstGeom>
          <a:solidFill>
            <a:srgbClr val="CCE5FF"/>
          </a:solidFill>
          <a:ln w="4763">
            <a:solidFill>
              <a:srgbClr val="B2CB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5821859" y="4245992"/>
            <a:ext cx="1065981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Zero Alert Fatigue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5821859" y="4414391"/>
            <a:ext cx="2022500" cy="345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Every suppressed alert is logged, not lost. Clinicians only see what matters — when it matters.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10" y="518443"/>
            <a:ext cx="8633966" cy="351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Market Defined by Administrative Waste at Massive Scale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49610" y="1073497"/>
            <a:ext cx="82447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prior authorization and claims adjudication landscape represents one of the largest sources of preventable waste in U.S. healthcare — with costs accelerating year over year and billions lost to denials that should never have been issued.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49610" y="1587178"/>
            <a:ext cx="4058692" cy="247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900" b="1" dirty="0">
                <a:solidFill>
                  <a:srgbClr val="3333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$25.7B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615678" y="1967061"/>
            <a:ext cx="1726481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Claims Adjudication Cost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49610" y="2203772"/>
            <a:ext cx="405869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Incurred by healthcare providers in 2023 — a </a:t>
            </a:r>
            <a:r>
              <a:rPr lang="en-US" sz="8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23% increase</a:t>
            </a:r>
            <a:r>
              <a:rPr lang="en-US" sz="8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year-over-year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635624" y="1587178"/>
            <a:ext cx="4058766" cy="247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900" b="1" dirty="0">
                <a:solidFill>
                  <a:srgbClr val="3333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$57.23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788447" y="1967061"/>
            <a:ext cx="1753046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Cost Per Contested Claim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35624" y="2203772"/>
            <a:ext cx="40587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Administrative cost per claim in 2023, up from $43.84 in 2022 — a </a:t>
            </a:r>
            <a:r>
              <a:rPr lang="en-US" sz="8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30% jump</a:t>
            </a:r>
            <a:r>
              <a:rPr lang="en-US" sz="8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a single year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49610" y="2806601"/>
            <a:ext cx="4058692" cy="3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900" b="1" dirty="0">
                <a:solidFill>
                  <a:srgbClr val="3333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3B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1542380" y="3310086"/>
            <a:ext cx="1873076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Claims Processed Annually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9610" y="3546797"/>
            <a:ext cx="40586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 insurers process approximately 3 billion medical claims each year across the U.S.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635624" y="2806601"/>
            <a:ext cx="4058766" cy="3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900" b="1" dirty="0">
                <a:solidFill>
                  <a:srgbClr val="3333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53M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5750719" y="3310086"/>
            <a:ext cx="1828502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 Determinations in 2024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35624" y="3546797"/>
            <a:ext cx="40587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Medicare Advantage alone issued 53 million prior-auth determinations — a fraction of the total market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49610" y="4004295"/>
            <a:ext cx="8244780" cy="620688"/>
          </a:xfrm>
          <a:prstGeom prst="roundRect">
            <a:avLst>
              <a:gd name="adj" fmla="val 7607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" y="4170164"/>
            <a:ext cx="140494" cy="11236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14834" y="4134222"/>
            <a:ext cx="77671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80.7% of appealed denials reversed, a significant share of the billions spent on adjudication represents </a:t>
            </a: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entirely avoidable administrative waste</a:t>
            </a: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dollars that PolicyPulse is designed to recover upstream, before submission.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04874"/>
            <a:ext cx="7642101" cy="6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PolicyPulse KPIs: Measuring the Value of Prior Auth Readiness</a:t>
            </a:r>
            <a:endParaRPr kumimoji="0" lang="en-US" sz="2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50912" y="1170087"/>
            <a:ext cx="7642101" cy="664518"/>
          </a:xfrm>
          <a:prstGeom prst="roundRect">
            <a:avLst>
              <a:gd name="adj" fmla="val 7000"/>
            </a:avLst>
          </a:prstGeom>
          <a:solidFill>
            <a:srgbClr val="F7F4EF"/>
          </a:solidFill>
          <a:ln w="14288">
            <a:solidFill>
              <a:srgbClr val="B2CB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5200" y="1184374"/>
            <a:ext cx="442987" cy="635943"/>
          </a:xfrm>
          <a:prstGeom prst="roundRect">
            <a:avLst>
              <a:gd name="adj" fmla="val 6631"/>
            </a:avLst>
          </a:prstGeom>
          <a:solidFill>
            <a:srgbClr val="CCE5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901229" y="1398538"/>
            <a:ext cx="16609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94656" y="1295102"/>
            <a:ext cx="2025476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Avoided Denial &amp; Rework Cost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94656" y="1519982"/>
            <a:ext cx="697334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Administrative dollars saved when PolicyPulse catches missing evidence </a:t>
            </a: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before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submission — eliminating costly rework cycles.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50912" y="1921073"/>
            <a:ext cx="7642101" cy="664518"/>
          </a:xfrm>
          <a:prstGeom prst="roundRect">
            <a:avLst>
              <a:gd name="adj" fmla="val 7000"/>
            </a:avLst>
          </a:prstGeom>
          <a:solidFill>
            <a:srgbClr val="F7F4EF"/>
          </a:solidFill>
          <a:ln w="14288">
            <a:solidFill>
              <a:srgbClr val="B2CB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5200" y="1935361"/>
            <a:ext cx="442987" cy="635943"/>
          </a:xfrm>
          <a:prstGeom prst="roundRect">
            <a:avLst>
              <a:gd name="adj" fmla="val 6631"/>
            </a:avLst>
          </a:prstGeom>
          <a:solidFill>
            <a:srgbClr val="CCE5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01229" y="2149525"/>
            <a:ext cx="16609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294656" y="2046089"/>
            <a:ext cx="1972047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First-Pass PA Readiness Rate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94656" y="2270968"/>
            <a:ext cx="697334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Percentage of required evidence items present at submission — the primary indicator of packet completeness and payer-readiness.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50912" y="2672060"/>
            <a:ext cx="7642101" cy="664518"/>
          </a:xfrm>
          <a:prstGeom prst="roundRect">
            <a:avLst>
              <a:gd name="adj" fmla="val 7000"/>
            </a:avLst>
          </a:prstGeom>
          <a:solidFill>
            <a:srgbClr val="F7F4EF"/>
          </a:solidFill>
          <a:ln w="14288">
            <a:solidFill>
              <a:srgbClr val="B2CB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65200" y="2686348"/>
            <a:ext cx="442987" cy="635943"/>
          </a:xfrm>
          <a:prstGeom prst="roundRect">
            <a:avLst>
              <a:gd name="adj" fmla="val 6631"/>
            </a:avLst>
          </a:prstGeom>
          <a:solidFill>
            <a:srgbClr val="CCE5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01229" y="2900511"/>
            <a:ext cx="16609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94656" y="2797076"/>
            <a:ext cx="1963117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Avoided Adjudication Burden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294656" y="3021955"/>
            <a:ext cx="697334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Reduction in unnecessary denial and adjudication workload driven by proactive gap identification upstream.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50912" y="3423047"/>
            <a:ext cx="7642101" cy="664518"/>
          </a:xfrm>
          <a:prstGeom prst="roundRect">
            <a:avLst>
              <a:gd name="adj" fmla="val 7000"/>
            </a:avLst>
          </a:prstGeom>
          <a:solidFill>
            <a:srgbClr val="F7F4EF"/>
          </a:solidFill>
          <a:ln w="14288">
            <a:solidFill>
              <a:srgbClr val="B2CB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65200" y="3437334"/>
            <a:ext cx="442987" cy="635943"/>
          </a:xfrm>
          <a:prstGeom prst="roundRect">
            <a:avLst>
              <a:gd name="adj" fmla="val 6631"/>
            </a:avLst>
          </a:prstGeom>
          <a:solidFill>
            <a:srgbClr val="CCE5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01229" y="3651498"/>
            <a:ext cx="16609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294656" y="3548063"/>
            <a:ext cx="2390477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Revenue-Cycle Labor Cost Avoided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294656" y="3772942"/>
            <a:ext cx="697334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Labor savings from eliminating manual payer-rule checking and denial follow-up across the revenue cycle team.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50912" y="4174034"/>
            <a:ext cx="7642101" cy="664518"/>
          </a:xfrm>
          <a:prstGeom prst="roundRect">
            <a:avLst>
              <a:gd name="adj" fmla="val 7000"/>
            </a:avLst>
          </a:prstGeom>
          <a:solidFill>
            <a:srgbClr val="F7F4EF"/>
          </a:solidFill>
          <a:ln w="14288">
            <a:solidFill>
              <a:srgbClr val="B2CB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65200" y="4188321"/>
            <a:ext cx="442987" cy="635943"/>
          </a:xfrm>
          <a:prstGeom prst="roundRect">
            <a:avLst>
              <a:gd name="adj" fmla="val 6631"/>
            </a:avLst>
          </a:prstGeom>
          <a:solidFill>
            <a:srgbClr val="CCE5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01229" y="4402485"/>
            <a:ext cx="16609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294656" y="4299049"/>
            <a:ext cx="2447553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Denied-PA Dollar Exposure Reduced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294656" y="4523929"/>
            <a:ext cx="697334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Total value of denied prior-auth volume where improved readiness directly reduces avoidable rework and write-offs.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754</Words>
  <Application>Microsoft Office PowerPoint</Application>
  <PresentationFormat>On-screen Show (16:9)</PresentationFormat>
  <Paragraphs>88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Calibri</vt:lpstr>
      <vt:lpstr>Aptos</vt:lpstr>
      <vt:lpstr>Inter</vt:lpstr>
      <vt:lpstr>Inter Light</vt:lpstr>
      <vt:lpstr>Inter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Christian Moran</dc:creator>
  <cp:lastModifiedBy>Christian Moran</cp:lastModifiedBy>
  <cp:revision>2</cp:revision>
  <dcterms:created xsi:type="dcterms:W3CDTF">2026-05-23T17:02:02Z</dcterms:created>
  <dcterms:modified xsi:type="dcterms:W3CDTF">2026-05-23T19:55:01Z</dcterms:modified>
</cp:coreProperties>
</file>